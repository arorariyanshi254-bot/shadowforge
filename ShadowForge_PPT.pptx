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17"/>
  </p:notesMasterIdLst>
  <p:sldIdLst>
    <p:sldId id="281" r:id="rId2"/>
    <p:sldId id="313" r:id="rId3"/>
    <p:sldId id="315" r:id="rId4"/>
    <p:sldId id="316" r:id="rId5"/>
    <p:sldId id="317" r:id="rId6"/>
    <p:sldId id="318" r:id="rId7"/>
    <p:sldId id="319" r:id="rId8"/>
    <p:sldId id="320" r:id="rId9"/>
    <p:sldId id="321" r:id="rId10"/>
    <p:sldId id="326" r:id="rId11"/>
    <p:sldId id="327" r:id="rId12"/>
    <p:sldId id="328" r:id="rId13"/>
    <p:sldId id="329" r:id="rId14"/>
    <p:sldId id="330" r:id="rId15"/>
    <p:sldId id="314" r:id="rId16"/>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BEBC1FE-0D27-420D-ACF3-3E7C33926969}" type="datetimeFigureOut">
              <a:rPr lang="en-IN" smtClean="0"/>
              <a:t>29-07-2026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0922932-FB73-4B31-94D5-4A7F88516CBD}" type="slidenum">
              <a:rPr lang="en-IN" smtClean="0"/>
              <a:t>‹#›</a:t>
            </a:fld>
            <a:endParaRPr lang="en-IN"/>
          </a:p>
        </p:txBody>
      </p:sp>
    </p:spTree>
    <p:extLst>
      <p:ext uri="{BB962C8B-B14F-4D97-AF65-F5344CB8AC3E}">
        <p14:creationId xmlns:p14="http://schemas.microsoft.com/office/powerpoint/2010/main" val="1077744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0922932-FB73-4B31-94D5-4A7F88516CBD}" type="slidenum">
              <a:rPr lang="en-IN" smtClean="0"/>
              <a:t>3</a:t>
            </a:fld>
            <a:endParaRPr lang="en-IN"/>
          </a:p>
        </p:txBody>
      </p:sp>
    </p:spTree>
    <p:extLst>
      <p:ext uri="{BB962C8B-B14F-4D97-AF65-F5344CB8AC3E}">
        <p14:creationId xmlns:p14="http://schemas.microsoft.com/office/powerpoint/2010/main" val="18625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lvl1pPr>
              <a:defRPr/>
            </a:lvl1pPr>
          </a:lstStyle>
          <a:p>
            <a:endParaRPr lang="en-IN"/>
          </a:p>
        </p:txBody>
      </p:sp>
      <p:sp>
        <p:nvSpPr>
          <p:cNvPr id="6"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1475965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6507541" cy="838200"/>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374784"/>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p:txBody>
          <a:bodyPr/>
          <a:lstStyle>
            <a:lvl1pPr>
              <a:defRPr/>
            </a:lvl1pPr>
          </a:lstStyle>
          <a:p>
            <a:fld id="{1D8BD707-D9CF-40AE-B4C6-C98DA3205C09}" type="datetimeFigureOut">
              <a:rPr lang="en-US" smtClean="0"/>
              <a:pPr/>
              <a:t>7/29/2026</a:t>
            </a:fld>
            <a:endParaRPr lang="en-US"/>
          </a:p>
        </p:txBody>
      </p:sp>
      <p:sp>
        <p:nvSpPr>
          <p:cNvPr id="11" name="Footer Placeholder 4"/>
          <p:cNvSpPr>
            <a:spLocks noGrp="1"/>
          </p:cNvSpPr>
          <p:nvPr>
            <p:ph type="ftr" sz="quarter" idx="11"/>
          </p:nvPr>
        </p:nvSpPr>
        <p:spPr/>
        <p:txBody>
          <a:bodyPr/>
          <a:lstStyle>
            <a:lvl1pPr>
              <a:defRPr/>
            </a:lvl1pPr>
          </a:lstStyle>
          <a:p>
            <a:endParaRPr lang="en-IN"/>
          </a:p>
        </p:txBody>
      </p:sp>
      <p:sp>
        <p:nvSpPr>
          <p:cNvPr id="12"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5279292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1D8BD707-D9CF-40AE-B4C6-C98DA3205C09}" type="datetimeFigureOut">
              <a:rPr lang="en-US" smtClean="0"/>
              <a:pPr/>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ea typeface="ＭＳ Ｐゴシック" charset="-128"/>
                <a:cs typeface="+mn-cs"/>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marL="38100">
              <a:lnSpc>
                <a:spcPts val="1630"/>
              </a:lnSpc>
            </a:pPr>
            <a:fld id="{81D60167-4931-47E6-BA6A-407CBD079E47}" type="slidenum">
              <a:rPr lang="en-IN" smtClean="0"/>
              <a:pPr marL="38100">
                <a:lnSpc>
                  <a:spcPts val="1630"/>
                </a:lnSpc>
              </a:pPr>
              <a:t>‹#›</a:t>
            </a:fld>
            <a:endParaRPr lang="en-IN" dirty="0"/>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7" name="Picture 6">
            <a:extLst>
              <a:ext uri="{FF2B5EF4-FFF2-40B4-BE49-F238E27FC236}">
                <a16:creationId xmlns:a16="http://schemas.microsoft.com/office/drawing/2014/main" id="{E6596227-011B-00F5-F390-BFE1CBC5D68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594475" y="220084"/>
            <a:ext cx="1974850" cy="846137"/>
          </a:xfrm>
          <a:prstGeom prst="rect">
            <a:avLst/>
          </a:prstGeom>
        </p:spPr>
      </p:pic>
    </p:spTree>
    <p:extLst>
      <p:ext uri="{BB962C8B-B14F-4D97-AF65-F5344CB8AC3E}">
        <p14:creationId xmlns:p14="http://schemas.microsoft.com/office/powerpoint/2010/main" val="2688698933"/>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372E63F-589D-8B42-99FD-D388EA2B82A4}"/>
              </a:ext>
            </a:extLst>
          </p:cNvPr>
          <p:cNvSpPr txBox="1"/>
          <p:nvPr/>
        </p:nvSpPr>
        <p:spPr>
          <a:xfrm>
            <a:off x="381000" y="925110"/>
            <a:ext cx="8229600" cy="4892364"/>
          </a:xfrm>
          <a:prstGeom prst="rect">
            <a:avLst/>
          </a:prstGeom>
        </p:spPr>
        <p:txBody>
          <a:bodyPr vert="horz" wrap="square" lIns="0" tIns="52069" rIns="0" bIns="0" rtlCol="0">
            <a:spAutoFit/>
          </a:bodyPr>
          <a:lstStyle/>
          <a:p>
            <a:pPr marR="8255" algn="ctr">
              <a:lnSpc>
                <a:spcPct val="100000"/>
              </a:lnSpc>
              <a:spcBef>
                <a:spcPts val="330"/>
              </a:spcBef>
            </a:pPr>
            <a:endParaRPr lang="en-IN" sz="3200" b="1" dirty="0">
              <a:latin typeface="Times New Roman" panose="02020603050405020304" pitchFamily="18" charset="0"/>
              <a:cs typeface="Times New Roman" panose="02020603050405020304" pitchFamily="18" charset="0"/>
            </a:endParaRPr>
          </a:p>
          <a:p>
            <a:r>
              <a:rPr lang="en-US" sz="2600" b="1" i="1" dirty="0"/>
              <a:t>	  </a:t>
            </a:r>
            <a:r>
              <a:rPr lang="en-US" sz="2600" b="1" i="1" dirty="0" err="1"/>
              <a:t>ShadowForge</a:t>
            </a:r>
            <a:r>
              <a:rPr lang="en-US" sz="2600" b="1" i="1" dirty="0"/>
              <a:t> – AI-Powered API Cloning 			  &amp; Mock Server Platform </a:t>
            </a:r>
            <a:endParaRPr lang="en-IN" sz="2600" dirty="0"/>
          </a:p>
          <a:p>
            <a:endParaRPr lang="en-IN" sz="4400" b="1" i="1" dirty="0">
              <a:latin typeface="Times New Roman" panose="02020603050405020304" pitchFamily="18" charset="0"/>
              <a:cs typeface="Times New Roman" panose="02020603050405020304" pitchFamily="18" charset="0"/>
            </a:endParaRPr>
          </a:p>
          <a:p>
            <a:pPr marR="8255" algn="ctr">
              <a:lnSpc>
                <a:spcPct val="100000"/>
              </a:lnSpc>
              <a:spcBef>
                <a:spcPts val="330"/>
              </a:spcBef>
            </a:pPr>
            <a:r>
              <a:rPr lang="en-IN" sz="2800" i="1" dirty="0">
                <a:latin typeface="Times New Roman" panose="02020603050405020304" pitchFamily="18" charset="0"/>
                <a:cs typeface="Times New Roman" panose="02020603050405020304" pitchFamily="18" charset="0"/>
              </a:rPr>
              <a:t>(Course Code: 25CS022)</a:t>
            </a:r>
          </a:p>
          <a:p>
            <a:pPr marR="8255" algn="ctr">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r>
              <a:rPr lang="en-IN" b="1" dirty="0">
                <a:latin typeface="Times New Roman" panose="02020603050405020304" pitchFamily="18" charset="0"/>
                <a:cs typeface="Times New Roman" panose="02020603050405020304" pitchFamily="18" charset="0"/>
              </a:rPr>
              <a:t>Presented By:</a:t>
            </a:r>
          </a:p>
          <a:p>
            <a:pPr marL="514350" marR="8255" indent="-514350">
              <a:lnSpc>
                <a:spcPct val="100000"/>
              </a:lnSpc>
              <a:spcBef>
                <a:spcPts val="330"/>
              </a:spcBef>
              <a:buAutoNum type="arabicPeriod"/>
            </a:pPr>
            <a:r>
              <a:rPr lang="en-IN" dirty="0">
                <a:latin typeface="Times New Roman" panose="02020603050405020304" pitchFamily="18" charset="0"/>
                <a:cs typeface="Times New Roman" panose="02020603050405020304" pitchFamily="18" charset="0"/>
              </a:rPr>
              <a:t>Riya Rana (2411981467)</a:t>
            </a:r>
          </a:p>
          <a:p>
            <a:pPr marL="514350" marR="8255" indent="-514350">
              <a:lnSpc>
                <a:spcPct val="100000"/>
              </a:lnSpc>
              <a:spcBef>
                <a:spcPts val="330"/>
              </a:spcBef>
              <a:buAutoNum type="arabicPeriod"/>
            </a:pPr>
            <a:r>
              <a:rPr lang="en-IN" dirty="0">
                <a:latin typeface="Times New Roman" panose="02020603050405020304" pitchFamily="18" charset="0"/>
                <a:cs typeface="Times New Roman" panose="02020603050405020304" pitchFamily="18" charset="0"/>
              </a:rPr>
              <a:t>Riyanshi (2411981468)</a:t>
            </a:r>
          </a:p>
          <a:p>
            <a:pPr marL="514350" marR="8255" indent="-514350">
              <a:lnSpc>
                <a:spcPct val="100000"/>
              </a:lnSpc>
              <a:spcBef>
                <a:spcPts val="330"/>
              </a:spcBef>
              <a:buAutoNum type="arabicPeriod"/>
            </a:pPr>
            <a:r>
              <a:rPr lang="en-IN" dirty="0">
                <a:latin typeface="Times New Roman" panose="02020603050405020304" pitchFamily="18" charset="0"/>
                <a:cs typeface="Times New Roman" panose="02020603050405020304" pitchFamily="18" charset="0"/>
              </a:rPr>
              <a:t>Rohani (2411981469)</a:t>
            </a:r>
          </a:p>
        </p:txBody>
      </p:sp>
      <p:sp>
        <p:nvSpPr>
          <p:cNvPr id="6" name="object 4">
            <a:extLst>
              <a:ext uri="{FF2B5EF4-FFF2-40B4-BE49-F238E27FC236}">
                <a16:creationId xmlns:a16="http://schemas.microsoft.com/office/drawing/2014/main" id="{E4690CBE-8CEE-F5EE-CA89-DCBB31B742DE}"/>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a:t>
            </a:fld>
            <a:endParaRPr dirty="0"/>
          </a:p>
        </p:txBody>
      </p:sp>
    </p:spTree>
    <p:extLst>
      <p:ext uri="{BB962C8B-B14F-4D97-AF65-F5344CB8AC3E}">
        <p14:creationId xmlns:p14="http://schemas.microsoft.com/office/powerpoint/2010/main" val="1366104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5E98-559D-0B30-1BB5-3C3416B3C887}"/>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Index</a:t>
            </a:r>
            <a:endParaRPr lang="en-IN"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700A92-C317-8104-6A6E-8031D6C9094F}"/>
              </a:ext>
            </a:extLst>
          </p:cNvPr>
          <p:cNvSpPr>
            <a:spLocks noGrp="1"/>
          </p:cNvSpPr>
          <p:nvPr>
            <p:ph idx="1"/>
          </p:nvPr>
        </p:nvSpPr>
        <p:spPr>
          <a:xfrm>
            <a:off x="304800" y="838200"/>
            <a:ext cx="8610600" cy="5867400"/>
          </a:xfrm>
        </p:spPr>
        <p:txBody>
          <a:bodyPr/>
          <a:lstStyle/>
          <a:p>
            <a:r>
              <a:rPr lang="en-IN" b="1" dirty="0">
                <a:latin typeface="Times New Roman" panose="02020603050405020304" pitchFamily="18" charset="0"/>
                <a:cs typeface="Times New Roman" panose="02020603050405020304" pitchFamily="18" charset="0"/>
              </a:rPr>
              <a:t>Introduction</a:t>
            </a:r>
          </a:p>
          <a:p>
            <a:r>
              <a:rPr lang="en-IN" b="1" dirty="0">
                <a:latin typeface="Times New Roman" panose="02020603050405020304" pitchFamily="18" charset="0"/>
                <a:cs typeface="Times New Roman" panose="02020603050405020304" pitchFamily="18" charset="0"/>
              </a:rPr>
              <a:t>Project Description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System Architecture &amp; Design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Database Design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Data Flow Diagrams (DFD)</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Features Implemented</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Screenshots</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Challenges Faced</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Pending Tasks</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813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B0AA6-0F7A-B012-0F6E-D5D0F5F37A0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endParaRPr lang="en-IN" dirty="0"/>
          </a:p>
        </p:txBody>
      </p:sp>
      <p:sp>
        <p:nvSpPr>
          <p:cNvPr id="3" name="Content Placeholder 2">
            <a:extLst>
              <a:ext uri="{FF2B5EF4-FFF2-40B4-BE49-F238E27FC236}">
                <a16:creationId xmlns:a16="http://schemas.microsoft.com/office/drawing/2014/main" id="{EE802F24-35B3-990F-D126-17463CD52601}"/>
              </a:ext>
            </a:extLst>
          </p:cNvPr>
          <p:cNvSpPr>
            <a:spLocks noGrp="1"/>
          </p:cNvSpPr>
          <p:nvPr>
            <p:ph idx="1"/>
          </p:nvPr>
        </p:nvSpPr>
        <p:spPr/>
        <p:txBody>
          <a:bodyPr/>
          <a:lstStyle/>
          <a:p>
            <a:pPr marL="0" indent="0">
              <a:lnSpc>
                <a:spcPct val="150000"/>
              </a:lnSpc>
              <a:buNone/>
            </a:pPr>
            <a:r>
              <a:rPr lang="en-IN" sz="1600" dirty="0"/>
              <a:t> </a:t>
            </a:r>
            <a:r>
              <a:rPr lang="en-IN" sz="1600" dirty="0" err="1">
                <a:latin typeface="Times New Roman" panose="02020603050405020304" pitchFamily="18" charset="0"/>
                <a:cs typeface="Times New Roman" panose="02020603050405020304" pitchFamily="18" charset="0"/>
              </a:rPr>
              <a:t>ShadowForge</a:t>
            </a:r>
            <a:r>
              <a:rPr lang="en-IN" sz="1600" dirty="0">
                <a:latin typeface="Times New Roman" panose="02020603050405020304" pitchFamily="18" charset="0"/>
                <a:cs typeface="Times New Roman" panose="02020603050405020304" pitchFamily="18" charset="0"/>
              </a:rPr>
              <a:t> is an AI-powered platform that automatically clones REST APIs and creates intelligent mock servers for faster, safer, and more efficient software development.</a:t>
            </a:r>
          </a:p>
          <a:p>
            <a:pPr>
              <a:lnSpc>
                <a:spcPct val="150000"/>
              </a:lnSpc>
            </a:pPr>
            <a:r>
              <a:rPr lang="en-IN" sz="1600" dirty="0">
                <a:latin typeface="Times New Roman" panose="02020603050405020304" pitchFamily="18" charset="0"/>
                <a:cs typeface="Times New Roman" panose="02020603050405020304" pitchFamily="18" charset="0"/>
              </a:rPr>
              <a:t>AI-powered platform for automatic REST API cloning. </a:t>
            </a:r>
          </a:p>
          <a:p>
            <a:pPr>
              <a:lnSpc>
                <a:spcPct val="150000"/>
              </a:lnSpc>
            </a:pPr>
            <a:r>
              <a:rPr lang="en-IN" sz="1600" dirty="0">
                <a:latin typeface="Times New Roman" panose="02020603050405020304" pitchFamily="18" charset="0"/>
                <a:cs typeface="Times New Roman" panose="02020603050405020304" pitchFamily="18" charset="0"/>
              </a:rPr>
              <a:t> Generates realistic mock APIs within seconds. </a:t>
            </a:r>
          </a:p>
          <a:p>
            <a:pPr>
              <a:lnSpc>
                <a:spcPct val="150000"/>
              </a:lnSpc>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API structure without manual configuration. </a:t>
            </a:r>
          </a:p>
          <a:p>
            <a:pPr>
              <a:lnSpc>
                <a:spcPct val="150000"/>
              </a:lnSpc>
            </a:pPr>
            <a:r>
              <a:rPr lang="en-IN" sz="1600" dirty="0">
                <a:latin typeface="Times New Roman" panose="02020603050405020304" pitchFamily="18" charset="0"/>
                <a:cs typeface="Times New Roman" panose="02020603050405020304" pitchFamily="18" charset="0"/>
              </a:rPr>
              <a:t> Enables safe testing without using live APIs. </a:t>
            </a:r>
          </a:p>
          <a:p>
            <a:pPr>
              <a:lnSpc>
                <a:spcPct val="150000"/>
              </a:lnSpc>
            </a:pPr>
            <a:r>
              <a:rPr lang="en-IN" sz="1600" dirty="0">
                <a:latin typeface="Times New Roman" panose="02020603050405020304" pitchFamily="18" charset="0"/>
                <a:cs typeface="Times New Roman" panose="02020603050405020304" pitchFamily="18" charset="0"/>
              </a:rPr>
              <a:t> Allows frontend and backend teams to work in parallel.</a:t>
            </a:r>
          </a:p>
          <a:p>
            <a:pPr>
              <a:lnSpc>
                <a:spcPct val="150000"/>
              </a:lnSpc>
            </a:pPr>
            <a:r>
              <a:rPr lang="en-IN" sz="1600" dirty="0">
                <a:latin typeface="Times New Roman" panose="02020603050405020304" pitchFamily="18" charset="0"/>
                <a:cs typeface="Times New Roman" panose="02020603050405020304" pitchFamily="18" charset="0"/>
              </a:rPr>
              <a:t> Provides API versioning, analytics, and request logging. </a:t>
            </a:r>
          </a:p>
          <a:p>
            <a:pPr>
              <a:lnSpc>
                <a:spcPct val="150000"/>
              </a:lnSpc>
            </a:pPr>
            <a:r>
              <a:rPr lang="en-IN" sz="1600" dirty="0">
                <a:latin typeface="Times New Roman" panose="02020603050405020304" pitchFamily="18" charset="0"/>
                <a:cs typeface="Times New Roman" panose="02020603050405020304" pitchFamily="18" charset="0"/>
              </a:rPr>
              <a:t> Secure, scalable, and developer-friendly architecture. </a:t>
            </a:r>
          </a:p>
          <a:p>
            <a:pPr>
              <a:lnSpc>
                <a:spcPct val="150000"/>
              </a:lnSpc>
            </a:pPr>
            <a:r>
              <a:rPr lang="en-IN" sz="1600" dirty="0">
                <a:latin typeface="Times New Roman" panose="02020603050405020304" pitchFamily="18" charset="0"/>
                <a:cs typeface="Times New Roman" panose="02020603050405020304" pitchFamily="18" charset="0"/>
              </a:rPr>
              <a:t> Reduces development time, cost, and dependency on third-party APIs.</a:t>
            </a:r>
          </a:p>
        </p:txBody>
      </p:sp>
    </p:spTree>
    <p:extLst>
      <p:ext uri="{BB962C8B-B14F-4D97-AF65-F5344CB8AC3E}">
        <p14:creationId xmlns:p14="http://schemas.microsoft.com/office/powerpoint/2010/main" val="666215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D7BFE-C877-EE8C-E4B1-567100F79406}"/>
              </a:ext>
            </a:extLst>
          </p:cNvPr>
          <p:cNvSpPr>
            <a:spLocks noGrp="1"/>
          </p:cNvSpPr>
          <p:nvPr>
            <p:ph type="title"/>
          </p:nvPr>
        </p:nvSpPr>
        <p:spPr/>
        <p:txBody>
          <a:bodyPr/>
          <a:lstStyle/>
          <a:p>
            <a:r>
              <a:rPr lang="en-IN" dirty="0"/>
              <a:t>Project Description</a:t>
            </a:r>
          </a:p>
        </p:txBody>
      </p:sp>
      <p:sp>
        <p:nvSpPr>
          <p:cNvPr id="3" name="Content Placeholder 2">
            <a:extLst>
              <a:ext uri="{FF2B5EF4-FFF2-40B4-BE49-F238E27FC236}">
                <a16:creationId xmlns:a16="http://schemas.microsoft.com/office/drawing/2014/main" id="{2E9F88C1-DEDA-D192-BA6F-4746B8E502FD}"/>
              </a:ext>
            </a:extLst>
          </p:cNvPr>
          <p:cNvSpPr>
            <a:spLocks noGrp="1"/>
          </p:cNvSpPr>
          <p:nvPr>
            <p:ph idx="1"/>
          </p:nvPr>
        </p:nvSpPr>
        <p:spPr/>
        <p:txBody>
          <a:bodyPr/>
          <a:lstStyle/>
          <a:p>
            <a:pPr marL="0" indent="0">
              <a:lnSpc>
                <a:spcPct val="150000"/>
              </a:lnSpc>
              <a:buNone/>
            </a:pPr>
            <a:r>
              <a:rPr lang="en-IN" sz="1600" dirty="0" err="1">
                <a:latin typeface="Times New Roman" panose="02020603050405020304" pitchFamily="18" charset="0"/>
                <a:cs typeface="Times New Roman" panose="02020603050405020304" pitchFamily="18" charset="0"/>
              </a:rPr>
              <a:t>ShadowForge</a:t>
            </a:r>
            <a:r>
              <a:rPr lang="en-IN" sz="1600" dirty="0">
                <a:latin typeface="Times New Roman" panose="02020603050405020304" pitchFamily="18" charset="0"/>
                <a:cs typeface="Times New Roman" panose="02020603050405020304" pitchFamily="18" charset="0"/>
              </a:rPr>
              <a:t> is an innovative platform that simplifies API development and testing by automatically cloning existing REST APIs and generating intelligent mock servers. It enables developers to create realistic API responses without relying on live or third-party services, allowing frontend, backend, and QA teams to work simultaneously.</a:t>
            </a:r>
          </a:p>
          <a:p>
            <a:pPr marL="0" indent="0">
              <a:lnSpc>
                <a:spcPct val="150000"/>
              </a:lnSpc>
              <a:buNone/>
            </a:pPr>
            <a:endParaRPr lang="en-IN" sz="1600" dirty="0">
              <a:latin typeface="Times New Roman" panose="02020603050405020304" pitchFamily="18" charset="0"/>
              <a:cs typeface="Times New Roman" panose="02020603050405020304" pitchFamily="18" charset="0"/>
            </a:endParaRPr>
          </a:p>
          <a:p>
            <a:pPr marL="0" indent="0">
              <a:lnSpc>
                <a:spcPct val="150000"/>
              </a:lnSpc>
              <a:buNone/>
            </a:pPr>
            <a:r>
              <a:rPr lang="en-IN" sz="1600" dirty="0">
                <a:latin typeface="Times New Roman" panose="02020603050405020304" pitchFamily="18" charset="0"/>
                <a:cs typeface="Times New Roman" panose="02020603050405020304" pitchFamily="18" charset="0"/>
              </a:rPr>
              <a:t>The platform </a:t>
            </a: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API structures, generates dynamic mock data, simulates various response scenarios (such as delays and errors), and provides features like API versioning, request logging, and performance analytics. By reducing dependency on production APIs, </a:t>
            </a:r>
            <a:r>
              <a:rPr lang="en-IN" sz="1600" dirty="0" err="1">
                <a:latin typeface="Times New Roman" panose="02020603050405020304" pitchFamily="18" charset="0"/>
                <a:cs typeface="Times New Roman" panose="02020603050405020304" pitchFamily="18" charset="0"/>
              </a:rPr>
              <a:t>ShadowForge</a:t>
            </a:r>
            <a:r>
              <a:rPr lang="en-IN" sz="1600" dirty="0">
                <a:latin typeface="Times New Roman" panose="02020603050405020304" pitchFamily="18" charset="0"/>
                <a:cs typeface="Times New Roman" panose="02020603050405020304" pitchFamily="18" charset="0"/>
              </a:rPr>
              <a:t> accelerates development, improves testing accuracy, and enhances collaboration across software development teams.</a:t>
            </a:r>
          </a:p>
          <a:p>
            <a:pPr marL="0" indent="0">
              <a:buNone/>
            </a:pPr>
            <a:endParaRPr lang="en-IN" sz="1600" dirty="0"/>
          </a:p>
        </p:txBody>
      </p:sp>
    </p:spTree>
    <p:extLst>
      <p:ext uri="{BB962C8B-B14F-4D97-AF65-F5344CB8AC3E}">
        <p14:creationId xmlns:p14="http://schemas.microsoft.com/office/powerpoint/2010/main" val="3864586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80D3D-18D1-F76E-2C96-3D05080362F7}"/>
              </a:ext>
            </a:extLst>
          </p:cNvPr>
          <p:cNvSpPr>
            <a:spLocks noGrp="1"/>
          </p:cNvSpPr>
          <p:nvPr>
            <p:ph type="title"/>
          </p:nvPr>
        </p:nvSpPr>
        <p:spPr/>
        <p:txBody>
          <a:bodyPr/>
          <a:lstStyle/>
          <a:p>
            <a:r>
              <a:rPr lang="en-IN" dirty="0"/>
              <a:t>    Key Features</a:t>
            </a:r>
          </a:p>
        </p:txBody>
      </p:sp>
      <p:sp>
        <p:nvSpPr>
          <p:cNvPr id="3" name="Content Placeholder 2">
            <a:extLst>
              <a:ext uri="{FF2B5EF4-FFF2-40B4-BE49-F238E27FC236}">
                <a16:creationId xmlns:a16="http://schemas.microsoft.com/office/drawing/2014/main" id="{8C0C0C2E-9B7E-439F-33A9-9AB12741597C}"/>
              </a:ext>
            </a:extLst>
          </p:cNvPr>
          <p:cNvSpPr>
            <a:spLocks noGrp="1"/>
          </p:cNvSpPr>
          <p:nvPr>
            <p:ph idx="1"/>
          </p:nvPr>
        </p:nvSpPr>
        <p:spPr/>
        <p:txBody>
          <a:bodyPr/>
          <a:lstStyle/>
          <a:p>
            <a:pPr marL="0" indent="0">
              <a:lnSpc>
                <a:spcPct val="150000"/>
              </a:lnSpc>
              <a:buNone/>
            </a:pPr>
            <a:r>
              <a:rPr lang="en-IN" sz="1800" b="1" dirty="0">
                <a:latin typeface="Times New Roman" panose="02020603050405020304" pitchFamily="18" charset="0"/>
                <a:cs typeface="Times New Roman" panose="02020603050405020304" pitchFamily="18" charset="0"/>
              </a:rPr>
              <a:t>Key Features:</a:t>
            </a:r>
          </a:p>
          <a:p>
            <a:pPr>
              <a:lnSpc>
                <a:spcPct val="150000"/>
              </a:lnSpc>
            </a:pPr>
            <a:r>
              <a:rPr lang="en-IN" sz="1600" dirty="0">
                <a:latin typeface="Times New Roman" panose="02020603050405020304" pitchFamily="18" charset="0"/>
                <a:cs typeface="Times New Roman" panose="02020603050405020304" pitchFamily="18" charset="0"/>
              </a:rPr>
              <a:t>AI-powered REST API cloning </a:t>
            </a:r>
          </a:p>
          <a:p>
            <a:pPr>
              <a:lnSpc>
                <a:spcPct val="150000"/>
              </a:lnSpc>
            </a:pPr>
            <a:r>
              <a:rPr lang="en-IN" sz="1600" dirty="0">
                <a:latin typeface="Times New Roman" panose="02020603050405020304" pitchFamily="18" charset="0"/>
                <a:cs typeface="Times New Roman" panose="02020603050405020304" pitchFamily="18" charset="0"/>
              </a:rPr>
              <a:t> Automatic mock API generation </a:t>
            </a:r>
          </a:p>
          <a:p>
            <a:pPr>
              <a:lnSpc>
                <a:spcPct val="150000"/>
              </a:lnSpc>
            </a:pPr>
            <a:r>
              <a:rPr lang="en-IN" sz="1600" dirty="0">
                <a:latin typeface="Times New Roman" panose="02020603050405020304" pitchFamily="18" charset="0"/>
                <a:cs typeface="Times New Roman" panose="02020603050405020304" pitchFamily="18" charset="0"/>
              </a:rPr>
              <a:t> Dynamic response simulation </a:t>
            </a:r>
          </a:p>
          <a:p>
            <a:pPr>
              <a:lnSpc>
                <a:spcPct val="150000"/>
              </a:lnSpc>
            </a:pPr>
            <a:r>
              <a:rPr lang="en-IN" sz="1600" dirty="0">
                <a:latin typeface="Times New Roman" panose="02020603050405020304" pitchFamily="18" charset="0"/>
                <a:cs typeface="Times New Roman" panose="02020603050405020304" pitchFamily="18" charset="0"/>
              </a:rPr>
              <a:t> API analytics &amp; request logging </a:t>
            </a:r>
          </a:p>
          <a:p>
            <a:pPr>
              <a:lnSpc>
                <a:spcPct val="150000"/>
              </a:lnSpc>
            </a:pPr>
            <a:r>
              <a:rPr lang="en-IN" sz="1600" dirty="0">
                <a:latin typeface="Times New Roman" panose="02020603050405020304" pitchFamily="18" charset="0"/>
                <a:cs typeface="Times New Roman" panose="02020603050405020304" pitchFamily="18" charset="0"/>
              </a:rPr>
              <a:t> Error and latency simulation </a:t>
            </a:r>
          </a:p>
          <a:p>
            <a:pPr>
              <a:lnSpc>
                <a:spcPct val="150000"/>
              </a:lnSpc>
            </a:pPr>
            <a:r>
              <a:rPr lang="en-IN" sz="1600" dirty="0">
                <a:latin typeface="Times New Roman" panose="02020603050405020304" pitchFamily="18" charset="0"/>
                <a:cs typeface="Times New Roman" panose="02020603050405020304" pitchFamily="18" charset="0"/>
              </a:rPr>
              <a:t>API version management </a:t>
            </a:r>
          </a:p>
          <a:p>
            <a:pPr>
              <a:lnSpc>
                <a:spcPct val="150000"/>
              </a:lnSpc>
            </a:pPr>
            <a:r>
              <a:rPr lang="en-IN" sz="1600" dirty="0">
                <a:latin typeface="Times New Roman" panose="02020603050405020304" pitchFamily="18" charset="0"/>
                <a:cs typeface="Times New Roman" panose="02020603050405020304" pitchFamily="18" charset="0"/>
              </a:rPr>
              <a:t>Secure user authentication </a:t>
            </a:r>
          </a:p>
          <a:p>
            <a:pPr>
              <a:lnSpc>
                <a:spcPct val="150000"/>
              </a:lnSpc>
            </a:pPr>
            <a:r>
              <a:rPr lang="en-IN" sz="1600" dirty="0">
                <a:latin typeface="Times New Roman" panose="02020603050405020304" pitchFamily="18" charset="0"/>
                <a:cs typeface="Times New Roman" panose="02020603050405020304" pitchFamily="18" charset="0"/>
              </a:rPr>
              <a:t>Scalable MERN-based architecture</a:t>
            </a:r>
          </a:p>
          <a:p>
            <a:pPr marL="0" indent="0">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0405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DE9E-8D4B-0A9C-D211-7A5F5611B0F9}"/>
              </a:ext>
            </a:extLst>
          </p:cNvPr>
          <p:cNvSpPr>
            <a:spLocks noGrp="1"/>
          </p:cNvSpPr>
          <p:nvPr>
            <p:ph type="title"/>
          </p:nvPr>
        </p:nvSpPr>
        <p:spPr/>
        <p:txBody>
          <a:bodyPr/>
          <a:lstStyle/>
          <a:p>
            <a:r>
              <a:rPr lang="en-IN" dirty="0"/>
              <a:t>System Architecture and </a:t>
            </a:r>
            <a:br>
              <a:rPr lang="en-IN" dirty="0"/>
            </a:br>
            <a:r>
              <a:rPr lang="en-IN" dirty="0"/>
              <a:t>Design</a:t>
            </a:r>
          </a:p>
        </p:txBody>
      </p:sp>
      <p:sp>
        <p:nvSpPr>
          <p:cNvPr id="3" name="Content Placeholder 2">
            <a:extLst>
              <a:ext uri="{FF2B5EF4-FFF2-40B4-BE49-F238E27FC236}">
                <a16:creationId xmlns:a16="http://schemas.microsoft.com/office/drawing/2014/main" id="{9709D4D9-016C-B607-5A65-3F2A53D90737}"/>
              </a:ext>
            </a:extLst>
          </p:cNvPr>
          <p:cNvSpPr>
            <a:spLocks noGrp="1"/>
          </p:cNvSpPr>
          <p:nvPr>
            <p:ph idx="1"/>
          </p:nvPr>
        </p:nvSpPr>
        <p:spPr/>
        <p:txBody>
          <a:bodyPr/>
          <a:lstStyle/>
          <a:p>
            <a:pPr marL="0" indent="0">
              <a:lnSpc>
                <a:spcPct val="150000"/>
              </a:lnSpc>
              <a:buNone/>
            </a:pPr>
            <a:r>
              <a:rPr lang="en-IN" sz="1800" b="1" dirty="0">
                <a:latin typeface="Times New Roman" panose="02020603050405020304" pitchFamily="18" charset="0"/>
                <a:cs typeface="Times New Roman" panose="02020603050405020304" pitchFamily="18" charset="0"/>
              </a:rPr>
              <a:t>1. User Authentication</a:t>
            </a:r>
          </a:p>
          <a:p>
            <a:pPr>
              <a:lnSpc>
                <a:spcPct val="150000"/>
              </a:lnSpc>
            </a:pPr>
            <a:r>
              <a:rPr lang="en-IN" sz="1600" dirty="0">
                <a:latin typeface="Times New Roman" panose="02020603050405020304" pitchFamily="18" charset="0"/>
                <a:cs typeface="Times New Roman" panose="02020603050405020304" pitchFamily="18" charset="0"/>
              </a:rPr>
              <a:t>Secure user registration and login using JWT. </a:t>
            </a:r>
          </a:p>
          <a:p>
            <a:pPr>
              <a:lnSpc>
                <a:spcPct val="150000"/>
              </a:lnSpc>
            </a:pPr>
            <a:r>
              <a:rPr lang="en-IN" sz="1600" dirty="0">
                <a:latin typeface="Times New Roman" panose="02020603050405020304" pitchFamily="18" charset="0"/>
                <a:cs typeface="Times New Roman" panose="02020603050405020304" pitchFamily="18" charset="0"/>
              </a:rPr>
              <a:t>Role-based access to projects and APIs. </a:t>
            </a:r>
          </a:p>
          <a:p>
            <a:pPr marL="0" indent="0">
              <a:lnSpc>
                <a:spcPct val="150000"/>
              </a:lnSpc>
              <a:buNone/>
            </a:pPr>
            <a:r>
              <a:rPr lang="en-IN" sz="1800" b="1" dirty="0">
                <a:latin typeface="Times New Roman" panose="02020603050405020304" pitchFamily="18" charset="0"/>
                <a:cs typeface="Times New Roman" panose="02020603050405020304" pitchFamily="18" charset="0"/>
              </a:rPr>
              <a:t>2. API Scanner</a:t>
            </a:r>
          </a:p>
          <a:p>
            <a:pPr>
              <a:lnSpc>
                <a:spcPct val="150000"/>
              </a:lnSpc>
            </a:pPr>
            <a:r>
              <a:rPr lang="en-IN" sz="1600" dirty="0">
                <a:latin typeface="Times New Roman" panose="02020603050405020304" pitchFamily="18" charset="0"/>
                <a:cs typeface="Times New Roman" panose="02020603050405020304" pitchFamily="18" charset="0"/>
              </a:rPr>
              <a:t>Accepts an API endpoint. </a:t>
            </a:r>
          </a:p>
          <a:p>
            <a:pPr>
              <a:lnSpc>
                <a:spcPct val="150000"/>
              </a:lnSpc>
            </a:pP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request methods, headers, parameters, and JSON responses. </a:t>
            </a:r>
          </a:p>
          <a:p>
            <a:pPr>
              <a:lnSpc>
                <a:spcPct val="150000"/>
              </a:lnSpc>
            </a:pPr>
            <a:r>
              <a:rPr lang="en-IN" sz="1600" dirty="0">
                <a:latin typeface="Times New Roman" panose="02020603050405020304" pitchFamily="18" charset="0"/>
                <a:cs typeface="Times New Roman" panose="02020603050405020304" pitchFamily="18" charset="0"/>
              </a:rPr>
              <a:t>Detects API schema automatically. </a:t>
            </a:r>
          </a:p>
          <a:p>
            <a:pPr marL="0" indent="0">
              <a:lnSpc>
                <a:spcPct val="150000"/>
              </a:lnSpc>
              <a:buNone/>
            </a:pPr>
            <a:r>
              <a:rPr lang="en-IN" sz="1800" b="1" dirty="0">
                <a:latin typeface="Times New Roman" panose="02020603050405020304" pitchFamily="18" charset="0"/>
                <a:cs typeface="Times New Roman" panose="02020603050405020304" pitchFamily="18" charset="0"/>
              </a:rPr>
              <a:t>3. Mock API Generator</a:t>
            </a:r>
          </a:p>
          <a:p>
            <a:pPr>
              <a:lnSpc>
                <a:spcPct val="150000"/>
              </a:lnSpc>
            </a:pPr>
            <a:r>
              <a:rPr lang="en-IN" sz="1600" dirty="0">
                <a:latin typeface="Times New Roman" panose="02020603050405020304" pitchFamily="18" charset="0"/>
                <a:cs typeface="Times New Roman" panose="02020603050405020304" pitchFamily="18" charset="0"/>
              </a:rPr>
              <a:t>Generates realistic mock APIs from detected schemas. </a:t>
            </a:r>
          </a:p>
          <a:p>
            <a:pPr>
              <a:lnSpc>
                <a:spcPct val="150000"/>
              </a:lnSpc>
            </a:pPr>
            <a:r>
              <a:rPr lang="en-IN" sz="1600" dirty="0">
                <a:latin typeface="Times New Roman" panose="02020603050405020304" pitchFamily="18" charset="0"/>
                <a:cs typeface="Times New Roman" panose="02020603050405020304" pitchFamily="18" charset="0"/>
              </a:rPr>
              <a:t>Supports dynamic fake data generation. </a:t>
            </a:r>
          </a:p>
          <a:p>
            <a:pPr marL="0" indent="0">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3593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D5EAA-21E6-99DC-C824-F544B369594F}"/>
              </a:ext>
            </a:extLst>
          </p:cNvPr>
          <p:cNvSpPr>
            <a:spLocks noGrp="1"/>
          </p:cNvSpPr>
          <p:nvPr>
            <p:ph type="title"/>
          </p:nvPr>
        </p:nvSpPr>
        <p:spPr/>
        <p:txBody>
          <a:bodyPr/>
          <a:lstStyle/>
          <a:p>
            <a:r>
              <a:rPr lang="en-IN" dirty="0"/>
              <a:t>System Design And</a:t>
            </a:r>
            <a:br>
              <a:rPr lang="en-IN" dirty="0"/>
            </a:br>
            <a:r>
              <a:rPr lang="en-IN" dirty="0"/>
              <a:t>Architecture</a:t>
            </a:r>
          </a:p>
        </p:txBody>
      </p:sp>
      <p:sp>
        <p:nvSpPr>
          <p:cNvPr id="3" name="Content Placeholder 2">
            <a:extLst>
              <a:ext uri="{FF2B5EF4-FFF2-40B4-BE49-F238E27FC236}">
                <a16:creationId xmlns:a16="http://schemas.microsoft.com/office/drawing/2014/main" id="{D8B1588D-DAF2-2081-F635-EA15B1585E2B}"/>
              </a:ext>
            </a:extLst>
          </p:cNvPr>
          <p:cNvSpPr>
            <a:spLocks noGrp="1"/>
          </p:cNvSpPr>
          <p:nvPr>
            <p:ph idx="1"/>
          </p:nvPr>
        </p:nvSpPr>
        <p:spPr>
          <a:xfrm>
            <a:off x="457200" y="1166018"/>
            <a:ext cx="8229600" cy="4525963"/>
          </a:xfrm>
        </p:spPr>
        <p:txBody>
          <a:bodyPr/>
          <a:lstStyle/>
          <a:p>
            <a:pPr marL="0" indent="0">
              <a:lnSpc>
                <a:spcPct val="150000"/>
              </a:lnSpc>
              <a:buNone/>
            </a:pPr>
            <a:r>
              <a:rPr lang="en-IN" sz="1800" b="1" dirty="0">
                <a:latin typeface="Times New Roman" panose="02020603050405020304" pitchFamily="18" charset="0"/>
                <a:cs typeface="Times New Roman" panose="02020603050405020304" pitchFamily="18" charset="0"/>
              </a:rPr>
              <a:t>4. Response Simulation</a:t>
            </a:r>
          </a:p>
          <a:p>
            <a:pPr>
              <a:lnSpc>
                <a:spcPct val="150000"/>
              </a:lnSpc>
            </a:pPr>
            <a:r>
              <a:rPr lang="en-IN" sz="1600" dirty="0">
                <a:latin typeface="Times New Roman" panose="02020603050405020304" pitchFamily="18" charset="0"/>
                <a:cs typeface="Times New Roman" panose="02020603050405020304" pitchFamily="18" charset="0"/>
              </a:rPr>
              <a:t>Simulates success responses, delays, authentication failures, and server errors. </a:t>
            </a:r>
          </a:p>
          <a:p>
            <a:pPr>
              <a:lnSpc>
                <a:spcPct val="150000"/>
              </a:lnSpc>
            </a:pPr>
            <a:r>
              <a:rPr lang="en-IN" sz="1600" dirty="0">
                <a:latin typeface="Times New Roman" panose="02020603050405020304" pitchFamily="18" charset="0"/>
                <a:cs typeface="Times New Roman" panose="02020603050405020304" pitchFamily="18" charset="0"/>
              </a:rPr>
              <a:t>Helps developers test multiple scenarios. </a:t>
            </a:r>
          </a:p>
          <a:p>
            <a:pPr marL="0" indent="0">
              <a:lnSpc>
                <a:spcPct val="150000"/>
              </a:lnSpc>
              <a:buNone/>
            </a:pPr>
            <a:r>
              <a:rPr lang="en-IN" sz="1800" b="1" dirty="0">
                <a:latin typeface="Times New Roman" panose="02020603050405020304" pitchFamily="18" charset="0"/>
                <a:cs typeface="Times New Roman" panose="02020603050405020304" pitchFamily="18" charset="0"/>
              </a:rPr>
              <a:t>5. API Version Management</a:t>
            </a:r>
          </a:p>
          <a:p>
            <a:pPr>
              <a:lnSpc>
                <a:spcPct val="150000"/>
              </a:lnSpc>
            </a:pPr>
            <a:r>
              <a:rPr lang="en-IN" sz="1600" dirty="0">
                <a:latin typeface="Times New Roman" panose="02020603050405020304" pitchFamily="18" charset="0"/>
                <a:cs typeface="Times New Roman" panose="02020603050405020304" pitchFamily="18" charset="0"/>
              </a:rPr>
              <a:t>Maintains different API versions. </a:t>
            </a:r>
          </a:p>
          <a:p>
            <a:pPr>
              <a:lnSpc>
                <a:spcPct val="150000"/>
              </a:lnSpc>
            </a:pPr>
            <a:r>
              <a:rPr lang="en-IN" sz="1600" dirty="0">
                <a:latin typeface="Times New Roman" panose="02020603050405020304" pitchFamily="18" charset="0"/>
                <a:cs typeface="Times New Roman" panose="02020603050405020304" pitchFamily="18" charset="0"/>
              </a:rPr>
              <a:t>Supports comparison and rollback. </a:t>
            </a:r>
          </a:p>
          <a:p>
            <a:pPr marL="0" indent="0">
              <a:lnSpc>
                <a:spcPct val="150000"/>
              </a:lnSpc>
              <a:buNone/>
            </a:pPr>
            <a:r>
              <a:rPr lang="en-IN" sz="1800" b="1" dirty="0">
                <a:latin typeface="Times New Roman" panose="02020603050405020304" pitchFamily="18" charset="0"/>
                <a:cs typeface="Times New Roman" panose="02020603050405020304" pitchFamily="18" charset="0"/>
              </a:rPr>
              <a:t>6. Analytics &amp; Logging</a:t>
            </a:r>
          </a:p>
          <a:p>
            <a:pPr>
              <a:lnSpc>
                <a:spcPct val="150000"/>
              </a:lnSpc>
            </a:pPr>
            <a:r>
              <a:rPr lang="en-IN" sz="1600" dirty="0">
                <a:latin typeface="Times New Roman" panose="02020603050405020304" pitchFamily="18" charset="0"/>
                <a:cs typeface="Times New Roman" panose="02020603050405020304" pitchFamily="18" charset="0"/>
              </a:rPr>
              <a:t>Tracks API requests and response times. </a:t>
            </a:r>
          </a:p>
          <a:p>
            <a:pPr>
              <a:lnSpc>
                <a:spcPct val="150000"/>
              </a:lnSpc>
            </a:pPr>
            <a:r>
              <a:rPr lang="en-IN" sz="1600" dirty="0">
                <a:latin typeface="Times New Roman" panose="02020603050405020304" pitchFamily="18" charset="0"/>
                <a:cs typeface="Times New Roman" panose="02020603050405020304" pitchFamily="18" charset="0"/>
              </a:rPr>
              <a:t>Displays usage statistics and performance reports. </a:t>
            </a:r>
          </a:p>
          <a:p>
            <a:pPr marL="0" indent="0">
              <a:lnSpc>
                <a:spcPct val="150000"/>
              </a:lnSpc>
              <a:buNone/>
            </a:pPr>
            <a:r>
              <a:rPr lang="en-IN" sz="1800" b="1" dirty="0">
                <a:latin typeface="Times New Roman" panose="02020603050405020304" pitchFamily="18" charset="0"/>
                <a:cs typeface="Times New Roman" panose="02020603050405020304" pitchFamily="18" charset="0"/>
              </a:rPr>
              <a:t>7. Database Management</a:t>
            </a:r>
          </a:p>
          <a:p>
            <a:pPr>
              <a:lnSpc>
                <a:spcPct val="150000"/>
              </a:lnSpc>
            </a:pPr>
            <a:r>
              <a:rPr lang="en-IN" sz="1600" dirty="0">
                <a:latin typeface="Times New Roman" panose="02020603050405020304" pitchFamily="18" charset="0"/>
                <a:cs typeface="Times New Roman" panose="02020603050405020304" pitchFamily="18" charset="0"/>
              </a:rPr>
              <a:t>Stores users, API schemas, mock responses, logs, and version history in MongoDB.</a:t>
            </a:r>
          </a:p>
          <a:p>
            <a:pPr marL="0" indent="0">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7298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0DB3-5E72-ECF0-B685-8DE22856DD41}"/>
              </a:ext>
            </a:extLst>
          </p:cNvPr>
          <p:cNvSpPr>
            <a:spLocks noGrp="1"/>
          </p:cNvSpPr>
          <p:nvPr>
            <p:ph type="title"/>
          </p:nvPr>
        </p:nvSpPr>
        <p:spPr/>
        <p:txBody>
          <a:bodyPr/>
          <a:lstStyle/>
          <a:p>
            <a:r>
              <a:rPr lang="en-IN" dirty="0"/>
              <a:t>System Design And</a:t>
            </a:r>
            <a:br>
              <a:rPr lang="en-IN" dirty="0"/>
            </a:br>
            <a:r>
              <a:rPr lang="en-IN" dirty="0"/>
              <a:t>Architecture</a:t>
            </a:r>
          </a:p>
        </p:txBody>
      </p:sp>
      <p:sp>
        <p:nvSpPr>
          <p:cNvPr id="6" name="Content Placeholder 5">
            <a:extLst>
              <a:ext uri="{FF2B5EF4-FFF2-40B4-BE49-F238E27FC236}">
                <a16:creationId xmlns:a16="http://schemas.microsoft.com/office/drawing/2014/main" id="{053C500D-A8ED-160E-58B7-22EEB375649B}"/>
              </a:ext>
            </a:extLst>
          </p:cNvPr>
          <p:cNvSpPr>
            <a:spLocks noGrp="1"/>
          </p:cNvSpPr>
          <p:nvPr>
            <p:ph idx="1"/>
          </p:nvPr>
        </p:nvSpPr>
        <p:spPr/>
        <p:txBody>
          <a:bodyPr/>
          <a:lstStyle/>
          <a:p>
            <a:endParaRPr lang="en-IN"/>
          </a:p>
        </p:txBody>
      </p:sp>
      <p:pic>
        <p:nvPicPr>
          <p:cNvPr id="7" name="Content Placeholder 3">
            <a:extLst>
              <a:ext uri="{FF2B5EF4-FFF2-40B4-BE49-F238E27FC236}">
                <a16:creationId xmlns:a16="http://schemas.microsoft.com/office/drawing/2014/main" id="{0A0D3526-FAF2-52FD-02F5-7150BC1EF633}"/>
              </a:ext>
            </a:extLst>
          </p:cNvPr>
          <p:cNvPicPr>
            <a:picLocks noChangeAspect="1"/>
          </p:cNvPicPr>
          <p:nvPr/>
        </p:nvPicPr>
        <p:blipFill>
          <a:blip r:embed="rId2"/>
          <a:stretch>
            <a:fillRect/>
          </a:stretch>
        </p:blipFill>
        <p:spPr bwMode="auto">
          <a:xfrm>
            <a:off x="381000" y="1219200"/>
            <a:ext cx="8458200" cy="4800600"/>
          </a:xfrm>
          <a:prstGeom prst="rect">
            <a:avLst/>
          </a:prstGeom>
          <a:noFill/>
          <a:ln w="9525">
            <a:noFill/>
            <a:miter lim="800000"/>
            <a:headEnd/>
            <a:tailEnd/>
          </a:ln>
        </p:spPr>
      </p:pic>
    </p:spTree>
    <p:extLst>
      <p:ext uri="{BB962C8B-B14F-4D97-AF65-F5344CB8AC3E}">
        <p14:creationId xmlns:p14="http://schemas.microsoft.com/office/powerpoint/2010/main" val="2636171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AAA40-D71F-73BF-C9A8-F7D1D36E0A5F}"/>
              </a:ext>
            </a:extLst>
          </p:cNvPr>
          <p:cNvSpPr>
            <a:spLocks noGrp="1"/>
          </p:cNvSpPr>
          <p:nvPr>
            <p:ph type="title"/>
          </p:nvPr>
        </p:nvSpPr>
        <p:spPr/>
        <p:txBody>
          <a:bodyPr/>
          <a:lstStyle/>
          <a:p>
            <a:r>
              <a:rPr lang="en-IN" dirty="0"/>
              <a:t>    Database Design</a:t>
            </a:r>
          </a:p>
        </p:txBody>
      </p:sp>
      <p:sp>
        <p:nvSpPr>
          <p:cNvPr id="3" name="Content Placeholder 2">
            <a:extLst>
              <a:ext uri="{FF2B5EF4-FFF2-40B4-BE49-F238E27FC236}">
                <a16:creationId xmlns:a16="http://schemas.microsoft.com/office/drawing/2014/main" id="{20F85FF4-9CDB-CE84-C150-50D546F14DFD}"/>
              </a:ext>
            </a:extLst>
          </p:cNvPr>
          <p:cNvSpPr>
            <a:spLocks noGrp="1"/>
          </p:cNvSpPr>
          <p:nvPr>
            <p:ph idx="1"/>
          </p:nvPr>
        </p:nvSpPr>
        <p:spPr>
          <a:xfrm>
            <a:off x="381000" y="1249056"/>
            <a:ext cx="8229600" cy="4525963"/>
          </a:xfrm>
        </p:spPr>
        <p:txBody>
          <a:bodyPr/>
          <a:lstStyle/>
          <a:p>
            <a:pPr marL="0" indent="0">
              <a:buNone/>
            </a:pPr>
            <a:r>
              <a:rPr lang="en-IN" sz="1600" dirty="0" err="1">
                <a:latin typeface="Times New Roman" panose="02020603050405020304" pitchFamily="18" charset="0"/>
                <a:cs typeface="Times New Roman" panose="02020603050405020304" pitchFamily="18" charset="0"/>
              </a:rPr>
              <a:t>ShadowForge</a:t>
            </a:r>
            <a:r>
              <a:rPr lang="en-IN" sz="1600" dirty="0">
                <a:latin typeface="Times New Roman" panose="02020603050405020304" pitchFamily="18" charset="0"/>
                <a:cs typeface="Times New Roman" panose="02020603050405020304" pitchFamily="18" charset="0"/>
              </a:rPr>
              <a:t> uses </a:t>
            </a:r>
            <a:r>
              <a:rPr lang="en-IN" sz="1600" b="1" dirty="0">
                <a:latin typeface="Times New Roman" panose="02020603050405020304" pitchFamily="18" charset="0"/>
                <a:cs typeface="Times New Roman" panose="02020603050405020304" pitchFamily="18" charset="0"/>
              </a:rPr>
              <a:t>MongoDB</a:t>
            </a:r>
            <a:r>
              <a:rPr lang="en-IN" sz="1600" dirty="0">
                <a:latin typeface="Times New Roman" panose="02020603050405020304" pitchFamily="18" charset="0"/>
                <a:cs typeface="Times New Roman" panose="02020603050405020304" pitchFamily="18" charset="0"/>
              </a:rPr>
              <a:t>, a </a:t>
            </a:r>
            <a:r>
              <a:rPr lang="en-IN" sz="1600" b="1" dirty="0">
                <a:latin typeface="Times New Roman" panose="02020603050405020304" pitchFamily="18" charset="0"/>
                <a:cs typeface="Times New Roman" panose="02020603050405020304" pitchFamily="18" charset="0"/>
              </a:rPr>
              <a:t>NoSQL document-oriented database</a:t>
            </a:r>
            <a:r>
              <a:rPr lang="en-IN" sz="1600" dirty="0">
                <a:latin typeface="Times New Roman" panose="02020603050405020304" pitchFamily="18" charset="0"/>
                <a:cs typeface="Times New Roman" panose="02020603050405020304" pitchFamily="18" charset="0"/>
              </a:rPr>
              <a:t>, to store dynamic API schemas, mock responses, user information, and request logs.</a:t>
            </a:r>
          </a:p>
          <a:p>
            <a:pPr marL="0" indent="0">
              <a:buNone/>
            </a:pPr>
            <a:endParaRPr lang="en-IN" sz="1600" dirty="0">
              <a:latin typeface="Times New Roman" panose="02020603050405020304" pitchFamily="18" charset="0"/>
              <a:cs typeface="Times New Roman" panose="02020603050405020304" pitchFamily="18" charset="0"/>
            </a:endParaRPr>
          </a:p>
          <a:p>
            <a:endParaRPr lang="en-IN" sz="1600" dirty="0"/>
          </a:p>
        </p:txBody>
      </p:sp>
      <p:sp>
        <p:nvSpPr>
          <p:cNvPr id="6" name="TextBox 5">
            <a:extLst>
              <a:ext uri="{FF2B5EF4-FFF2-40B4-BE49-F238E27FC236}">
                <a16:creationId xmlns:a16="http://schemas.microsoft.com/office/drawing/2014/main" id="{0952FA61-C7A8-F826-0307-32A82E969E26}"/>
              </a:ext>
            </a:extLst>
          </p:cNvPr>
          <p:cNvSpPr txBox="1"/>
          <p:nvPr/>
        </p:nvSpPr>
        <p:spPr>
          <a:xfrm>
            <a:off x="2276168" y="3142706"/>
            <a:ext cx="4591664" cy="369332"/>
          </a:xfrm>
          <a:prstGeom prst="rect">
            <a:avLst/>
          </a:prstGeom>
          <a:noFill/>
        </p:spPr>
        <p:txBody>
          <a:bodyPr wrap="square">
            <a:spAutoFit/>
          </a:bodyPr>
          <a:lstStyle/>
          <a:p>
            <a:pPr>
              <a:buNone/>
            </a:pPr>
            <a:r>
              <a:rPr lang="en-IN" dirty="0"/>
              <a:t>.</a:t>
            </a:r>
          </a:p>
        </p:txBody>
      </p:sp>
      <p:pic>
        <p:nvPicPr>
          <p:cNvPr id="5" name="Picture 4">
            <a:extLst>
              <a:ext uri="{FF2B5EF4-FFF2-40B4-BE49-F238E27FC236}">
                <a16:creationId xmlns:a16="http://schemas.microsoft.com/office/drawing/2014/main" id="{02102B1E-0CCC-CAAE-139D-135C82D8B4CA}"/>
              </a:ext>
            </a:extLst>
          </p:cNvPr>
          <p:cNvPicPr>
            <a:picLocks noChangeAspect="1"/>
          </p:cNvPicPr>
          <p:nvPr/>
        </p:nvPicPr>
        <p:blipFill>
          <a:blip r:embed="rId2"/>
          <a:stretch>
            <a:fillRect/>
          </a:stretch>
        </p:blipFill>
        <p:spPr>
          <a:xfrm>
            <a:off x="838200" y="1981200"/>
            <a:ext cx="7467600" cy="4419600"/>
          </a:xfrm>
          <a:prstGeom prst="rect">
            <a:avLst/>
          </a:prstGeom>
        </p:spPr>
      </p:pic>
    </p:spTree>
    <p:extLst>
      <p:ext uri="{BB962C8B-B14F-4D97-AF65-F5344CB8AC3E}">
        <p14:creationId xmlns:p14="http://schemas.microsoft.com/office/powerpoint/2010/main" val="11286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68E7-DDBC-6C4A-4904-6FA96D5F40BE}"/>
              </a:ext>
            </a:extLst>
          </p:cNvPr>
          <p:cNvSpPr>
            <a:spLocks noGrp="1"/>
          </p:cNvSpPr>
          <p:nvPr>
            <p:ph type="title"/>
          </p:nvPr>
        </p:nvSpPr>
        <p:spPr/>
        <p:txBody>
          <a:bodyPr/>
          <a:lstStyle/>
          <a:p>
            <a:r>
              <a:rPr lang="en-IN" dirty="0"/>
              <a:t>Dataflow Diagrams</a:t>
            </a:r>
          </a:p>
        </p:txBody>
      </p:sp>
      <p:pic>
        <p:nvPicPr>
          <p:cNvPr id="7" name="Content Placeholder 6">
            <a:extLst>
              <a:ext uri="{FF2B5EF4-FFF2-40B4-BE49-F238E27FC236}">
                <a16:creationId xmlns:a16="http://schemas.microsoft.com/office/drawing/2014/main" id="{EB9BF0A5-57BB-F872-E7CC-79873A314D56}"/>
              </a:ext>
            </a:extLst>
          </p:cNvPr>
          <p:cNvPicPr>
            <a:picLocks noGrp="1" noChangeAspect="1"/>
          </p:cNvPicPr>
          <p:nvPr>
            <p:ph idx="1"/>
          </p:nvPr>
        </p:nvPicPr>
        <p:blipFill>
          <a:blip r:embed="rId2"/>
          <a:stretch>
            <a:fillRect/>
          </a:stretch>
        </p:blipFill>
        <p:spPr>
          <a:xfrm>
            <a:off x="457200" y="1430253"/>
            <a:ext cx="8229600" cy="4041739"/>
          </a:xfrm>
          <a:prstGeom prst="rect">
            <a:avLst/>
          </a:prstGeom>
        </p:spPr>
      </p:pic>
      <p:sp>
        <p:nvSpPr>
          <p:cNvPr id="8" name="TextBox 7">
            <a:extLst>
              <a:ext uri="{FF2B5EF4-FFF2-40B4-BE49-F238E27FC236}">
                <a16:creationId xmlns:a16="http://schemas.microsoft.com/office/drawing/2014/main" id="{013A9E5D-2238-D76B-749E-5FEAC7DE3CCA}"/>
              </a:ext>
            </a:extLst>
          </p:cNvPr>
          <p:cNvSpPr txBox="1"/>
          <p:nvPr/>
        </p:nvSpPr>
        <p:spPr>
          <a:xfrm>
            <a:off x="3581400" y="5873545"/>
            <a:ext cx="3048000" cy="381000"/>
          </a:xfrm>
          <a:prstGeom prst="rect">
            <a:avLst/>
          </a:prstGeom>
          <a:noFill/>
        </p:spPr>
        <p:txBody>
          <a:bodyPr wrap="square" rtlCol="0">
            <a:spAutoFit/>
          </a:bodyPr>
          <a:lstStyle/>
          <a:p>
            <a:r>
              <a:rPr lang="en-IN" dirty="0"/>
              <a:t>Level-0 DFD</a:t>
            </a:r>
          </a:p>
        </p:txBody>
      </p:sp>
    </p:spTree>
    <p:extLst>
      <p:ext uri="{BB962C8B-B14F-4D97-AF65-F5344CB8AC3E}">
        <p14:creationId xmlns:p14="http://schemas.microsoft.com/office/powerpoint/2010/main" val="1389017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225E5-7405-A74E-F73B-45FF96AA67F3}"/>
              </a:ext>
            </a:extLst>
          </p:cNvPr>
          <p:cNvSpPr>
            <a:spLocks noGrp="1"/>
          </p:cNvSpPr>
          <p:nvPr>
            <p:ph type="title"/>
          </p:nvPr>
        </p:nvSpPr>
        <p:spPr/>
        <p:txBody>
          <a:bodyPr/>
          <a:lstStyle/>
          <a:p>
            <a:r>
              <a:rPr lang="en-IN" dirty="0"/>
              <a:t>         Dataflow Diagrams</a:t>
            </a:r>
          </a:p>
        </p:txBody>
      </p:sp>
      <p:pic>
        <p:nvPicPr>
          <p:cNvPr id="4" name="Content Placeholder 3">
            <a:extLst>
              <a:ext uri="{FF2B5EF4-FFF2-40B4-BE49-F238E27FC236}">
                <a16:creationId xmlns:a16="http://schemas.microsoft.com/office/drawing/2014/main" id="{25501327-392C-B16D-F9AA-8EDFA9EA0823}"/>
              </a:ext>
            </a:extLst>
          </p:cNvPr>
          <p:cNvPicPr>
            <a:picLocks noGrp="1" noChangeAspect="1"/>
          </p:cNvPicPr>
          <p:nvPr>
            <p:ph idx="1"/>
          </p:nvPr>
        </p:nvPicPr>
        <p:blipFill>
          <a:blip r:embed="rId2"/>
          <a:stretch>
            <a:fillRect/>
          </a:stretch>
        </p:blipFill>
        <p:spPr>
          <a:xfrm>
            <a:off x="457200" y="1371600"/>
            <a:ext cx="8229600" cy="4114800"/>
          </a:xfrm>
          <a:prstGeom prst="rect">
            <a:avLst/>
          </a:prstGeom>
        </p:spPr>
      </p:pic>
      <p:sp>
        <p:nvSpPr>
          <p:cNvPr id="5" name="TextBox 4">
            <a:extLst>
              <a:ext uri="{FF2B5EF4-FFF2-40B4-BE49-F238E27FC236}">
                <a16:creationId xmlns:a16="http://schemas.microsoft.com/office/drawing/2014/main" id="{E0940738-6C00-1AE4-3B0E-CF705A052766}"/>
              </a:ext>
            </a:extLst>
          </p:cNvPr>
          <p:cNvSpPr txBox="1"/>
          <p:nvPr/>
        </p:nvSpPr>
        <p:spPr>
          <a:xfrm>
            <a:off x="3581400" y="5722997"/>
            <a:ext cx="3048000" cy="369332"/>
          </a:xfrm>
          <a:prstGeom prst="rect">
            <a:avLst/>
          </a:prstGeom>
          <a:noFill/>
        </p:spPr>
        <p:txBody>
          <a:bodyPr wrap="square" rtlCol="0">
            <a:spAutoFit/>
          </a:bodyPr>
          <a:lstStyle/>
          <a:p>
            <a:r>
              <a:rPr lang="en-IN" dirty="0"/>
              <a:t>Level-1 DFD</a:t>
            </a:r>
          </a:p>
        </p:txBody>
      </p:sp>
    </p:spTree>
    <p:extLst>
      <p:ext uri="{BB962C8B-B14F-4D97-AF65-F5344CB8AC3E}">
        <p14:creationId xmlns:p14="http://schemas.microsoft.com/office/powerpoint/2010/main" val="1601301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29656-6576-BE66-031D-35D515C999BB}"/>
              </a:ext>
            </a:extLst>
          </p:cNvPr>
          <p:cNvSpPr>
            <a:spLocks noGrp="1"/>
          </p:cNvSpPr>
          <p:nvPr>
            <p:ph type="title"/>
          </p:nvPr>
        </p:nvSpPr>
        <p:spPr/>
        <p:txBody>
          <a:bodyPr/>
          <a:lstStyle/>
          <a:p>
            <a:r>
              <a:rPr lang="en-IN" dirty="0"/>
              <a:t>     Dataflow Diagram</a:t>
            </a:r>
          </a:p>
        </p:txBody>
      </p:sp>
      <p:pic>
        <p:nvPicPr>
          <p:cNvPr id="4" name="Content Placeholder 3">
            <a:extLst>
              <a:ext uri="{FF2B5EF4-FFF2-40B4-BE49-F238E27FC236}">
                <a16:creationId xmlns:a16="http://schemas.microsoft.com/office/drawing/2014/main" id="{7E8A41E5-A1A0-7181-58EE-2F466E6FC4E1}"/>
              </a:ext>
            </a:extLst>
          </p:cNvPr>
          <p:cNvPicPr>
            <a:picLocks noGrp="1" noChangeAspect="1"/>
          </p:cNvPicPr>
          <p:nvPr>
            <p:ph idx="1"/>
          </p:nvPr>
        </p:nvPicPr>
        <p:blipFill>
          <a:blip r:embed="rId2"/>
          <a:stretch>
            <a:fillRect/>
          </a:stretch>
        </p:blipFill>
        <p:spPr>
          <a:xfrm>
            <a:off x="381000" y="1143000"/>
            <a:ext cx="8229600" cy="4114800"/>
          </a:xfrm>
          <a:prstGeom prst="rect">
            <a:avLst/>
          </a:prstGeom>
        </p:spPr>
      </p:pic>
      <p:sp>
        <p:nvSpPr>
          <p:cNvPr id="5" name="TextBox 4">
            <a:extLst>
              <a:ext uri="{FF2B5EF4-FFF2-40B4-BE49-F238E27FC236}">
                <a16:creationId xmlns:a16="http://schemas.microsoft.com/office/drawing/2014/main" id="{51EC4F3D-1559-F452-61AA-1014F3474573}"/>
              </a:ext>
            </a:extLst>
          </p:cNvPr>
          <p:cNvSpPr txBox="1"/>
          <p:nvPr/>
        </p:nvSpPr>
        <p:spPr>
          <a:xfrm>
            <a:off x="3263601" y="5562600"/>
            <a:ext cx="2743200" cy="369332"/>
          </a:xfrm>
          <a:prstGeom prst="rect">
            <a:avLst/>
          </a:prstGeom>
          <a:noFill/>
        </p:spPr>
        <p:txBody>
          <a:bodyPr wrap="square" rtlCol="0">
            <a:spAutoFit/>
          </a:bodyPr>
          <a:lstStyle/>
          <a:p>
            <a:r>
              <a:rPr lang="en-IN" dirty="0"/>
              <a:t>Use-Case Diagram</a:t>
            </a:r>
          </a:p>
        </p:txBody>
      </p:sp>
    </p:spTree>
    <p:extLst>
      <p:ext uri="{BB962C8B-B14F-4D97-AF65-F5344CB8AC3E}">
        <p14:creationId xmlns:p14="http://schemas.microsoft.com/office/powerpoint/2010/main" val="2730187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EC0C5-4C09-800C-3B8E-7A34F082117E}"/>
              </a:ext>
            </a:extLst>
          </p:cNvPr>
          <p:cNvSpPr>
            <a:spLocks noGrp="1"/>
          </p:cNvSpPr>
          <p:nvPr>
            <p:ph type="title"/>
          </p:nvPr>
        </p:nvSpPr>
        <p:spPr/>
        <p:txBody>
          <a:bodyPr/>
          <a:lstStyle/>
          <a:p>
            <a:r>
              <a:rPr lang="en-IN" dirty="0"/>
              <a:t>Features Implemented</a:t>
            </a:r>
          </a:p>
        </p:txBody>
      </p:sp>
      <p:sp>
        <p:nvSpPr>
          <p:cNvPr id="3" name="Content Placeholder 2">
            <a:extLst>
              <a:ext uri="{FF2B5EF4-FFF2-40B4-BE49-F238E27FC236}">
                <a16:creationId xmlns:a16="http://schemas.microsoft.com/office/drawing/2014/main" id="{86CF40A0-83D3-AE10-04B6-72064E9B6169}"/>
              </a:ext>
            </a:extLst>
          </p:cNvPr>
          <p:cNvSpPr>
            <a:spLocks noGrp="1"/>
          </p:cNvSpPr>
          <p:nvPr>
            <p:ph idx="1"/>
          </p:nvPr>
        </p:nvSpPr>
        <p:spPr>
          <a:xfrm>
            <a:off x="304800" y="838200"/>
            <a:ext cx="8229600" cy="4525963"/>
          </a:xfrm>
        </p:spPr>
        <p:txBody>
          <a:bodyPr/>
          <a:lstStyle/>
          <a:p>
            <a:pPr marL="0" indent="0">
              <a:lnSpc>
                <a:spcPct val="150000"/>
              </a:lnSpc>
              <a:buNone/>
            </a:pPr>
            <a:r>
              <a:rPr lang="en-IN" sz="1600" dirty="0" err="1">
                <a:latin typeface="Times New Roman" panose="02020603050405020304" pitchFamily="18" charset="0"/>
                <a:cs typeface="Times New Roman" panose="02020603050405020304" pitchFamily="18" charset="0"/>
              </a:rPr>
              <a:t>ShadowForge</a:t>
            </a:r>
            <a:r>
              <a:rPr lang="en-IN" sz="1600" dirty="0">
                <a:latin typeface="Times New Roman" panose="02020603050405020304" pitchFamily="18" charset="0"/>
                <a:cs typeface="Times New Roman" panose="02020603050405020304" pitchFamily="18" charset="0"/>
              </a:rPr>
              <a:t> provides secure authentication, intelligent API cloning, dynamic mock API generation, response simulation, version management, analytics, and scalable API testing—all within a single MERN-based platform.</a:t>
            </a:r>
          </a:p>
          <a:p>
            <a:pPr>
              <a:lnSpc>
                <a:spcPct val="150000"/>
              </a:lnSpc>
            </a:pPr>
            <a:r>
              <a:rPr lang="en-IN" sz="1600" dirty="0">
                <a:latin typeface="Times New Roman" panose="02020603050405020304" pitchFamily="18" charset="0"/>
                <a:cs typeface="Times New Roman" panose="02020603050405020304" pitchFamily="18" charset="0"/>
              </a:rPr>
              <a:t> Secure User Authentication (JWT-based Login &amp; Registration) </a:t>
            </a:r>
          </a:p>
          <a:p>
            <a:pPr>
              <a:lnSpc>
                <a:spcPct val="150000"/>
              </a:lnSpc>
            </a:pPr>
            <a:r>
              <a:rPr lang="en-IN" sz="1600" dirty="0">
                <a:latin typeface="Times New Roman" panose="02020603050405020304" pitchFamily="18" charset="0"/>
                <a:cs typeface="Times New Roman" panose="02020603050405020304" pitchFamily="18" charset="0"/>
              </a:rPr>
              <a:t>Automatic REST API Cloning </a:t>
            </a:r>
          </a:p>
          <a:p>
            <a:pPr>
              <a:lnSpc>
                <a:spcPct val="150000"/>
              </a:lnSpc>
            </a:pPr>
            <a:r>
              <a:rPr lang="en-IN" sz="1600" dirty="0">
                <a:latin typeface="Times New Roman" panose="02020603050405020304" pitchFamily="18" charset="0"/>
                <a:cs typeface="Times New Roman" panose="02020603050405020304" pitchFamily="18" charset="0"/>
              </a:rPr>
              <a:t>AI-Based API Schema Detection </a:t>
            </a:r>
          </a:p>
          <a:p>
            <a:pPr>
              <a:lnSpc>
                <a:spcPct val="150000"/>
              </a:lnSpc>
            </a:pPr>
            <a:r>
              <a:rPr lang="en-IN" sz="1600" dirty="0">
                <a:latin typeface="Times New Roman" panose="02020603050405020304" pitchFamily="18" charset="0"/>
                <a:cs typeface="Times New Roman" panose="02020603050405020304" pitchFamily="18" charset="0"/>
              </a:rPr>
              <a:t> Dynamic Mock API Generation </a:t>
            </a:r>
          </a:p>
          <a:p>
            <a:pPr>
              <a:lnSpc>
                <a:spcPct val="150000"/>
              </a:lnSpc>
            </a:pPr>
            <a:r>
              <a:rPr lang="en-IN" sz="1600" dirty="0">
                <a:latin typeface="Times New Roman" panose="02020603050405020304" pitchFamily="18" charset="0"/>
                <a:cs typeface="Times New Roman" panose="02020603050405020304" pitchFamily="18" charset="0"/>
              </a:rPr>
              <a:t> API Response &amp; Error Simulation </a:t>
            </a:r>
          </a:p>
          <a:p>
            <a:pPr>
              <a:lnSpc>
                <a:spcPct val="150000"/>
              </a:lnSpc>
            </a:pPr>
            <a:r>
              <a:rPr lang="en-IN" sz="1600" dirty="0">
                <a:latin typeface="Times New Roman" panose="02020603050405020304" pitchFamily="18" charset="0"/>
                <a:cs typeface="Times New Roman" panose="02020603050405020304" pitchFamily="18" charset="0"/>
              </a:rPr>
              <a:t>API Version Management </a:t>
            </a:r>
          </a:p>
          <a:p>
            <a:pPr>
              <a:lnSpc>
                <a:spcPct val="150000"/>
              </a:lnSpc>
            </a:pPr>
            <a:r>
              <a:rPr lang="en-IN" sz="1600" dirty="0">
                <a:latin typeface="Times New Roman" panose="02020603050405020304" pitchFamily="18" charset="0"/>
                <a:cs typeface="Times New Roman" panose="02020603050405020304" pitchFamily="18" charset="0"/>
              </a:rPr>
              <a:t>Request Logging &amp; Analytics Dashboard </a:t>
            </a:r>
          </a:p>
          <a:p>
            <a:pPr>
              <a:lnSpc>
                <a:spcPct val="150000"/>
              </a:lnSpc>
            </a:pPr>
            <a:r>
              <a:rPr lang="en-IN" sz="1600" dirty="0">
                <a:latin typeface="Times New Roman" panose="02020603050405020304" pitchFamily="18" charset="0"/>
                <a:cs typeface="Times New Roman" panose="02020603050405020304" pitchFamily="18" charset="0"/>
              </a:rPr>
              <a:t> MongoDB Data Storage </a:t>
            </a:r>
          </a:p>
          <a:p>
            <a:pPr>
              <a:lnSpc>
                <a:spcPct val="150000"/>
              </a:lnSpc>
            </a:pPr>
            <a:r>
              <a:rPr lang="en-IN" sz="1600" dirty="0">
                <a:latin typeface="Times New Roman" panose="02020603050405020304" pitchFamily="18" charset="0"/>
                <a:cs typeface="Times New Roman" panose="02020603050405020304" pitchFamily="18" charset="0"/>
              </a:rPr>
              <a:t>Fast API Testing Environment </a:t>
            </a:r>
          </a:p>
          <a:p>
            <a:pPr>
              <a:lnSpc>
                <a:spcPct val="150000"/>
              </a:lnSpc>
            </a:pPr>
            <a:r>
              <a:rPr lang="en-IN" sz="1600" dirty="0">
                <a:latin typeface="Times New Roman" panose="02020603050405020304" pitchFamily="18" charset="0"/>
                <a:cs typeface="Times New Roman" panose="02020603050405020304" pitchFamily="18" charset="0"/>
              </a:rPr>
              <a:t>User-Friendly Dashboard </a:t>
            </a:r>
          </a:p>
          <a:p>
            <a:pPr>
              <a:lnSpc>
                <a:spcPct val="150000"/>
              </a:lnSpc>
            </a:pPr>
            <a:r>
              <a:rPr lang="en-IN" sz="1600" dirty="0">
                <a:latin typeface="Times New Roman" panose="02020603050405020304" pitchFamily="18" charset="0"/>
                <a:cs typeface="Times New Roman" panose="02020603050405020304" pitchFamily="18" charset="0"/>
              </a:rPr>
              <a:t>API Search &amp; Management </a:t>
            </a:r>
          </a:p>
        </p:txBody>
      </p:sp>
    </p:spTree>
    <p:extLst>
      <p:ext uri="{BB962C8B-B14F-4D97-AF65-F5344CB8AC3E}">
        <p14:creationId xmlns:p14="http://schemas.microsoft.com/office/powerpoint/2010/main" val="292829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44B03-8FEF-DF87-6531-99534D101E1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A98EA05-3971-233A-E596-420E45186E7B}"/>
              </a:ext>
            </a:extLst>
          </p:cNvPr>
          <p:cNvSpPr>
            <a:spLocks noGrp="1"/>
          </p:cNvSpPr>
          <p:nvPr>
            <p:ph idx="1"/>
          </p:nvPr>
        </p:nvSpPr>
        <p:spPr>
          <a:xfrm>
            <a:off x="381000" y="1066800"/>
            <a:ext cx="8229600" cy="4525963"/>
          </a:xfrm>
        </p:spPr>
        <p:txBody>
          <a:bodyPr/>
          <a:lstStyle/>
          <a:p>
            <a:pPr marL="0" indent="0">
              <a:lnSpc>
                <a:spcPct val="150000"/>
              </a:lnSpc>
              <a:buNone/>
            </a:pPr>
            <a:r>
              <a:rPr lang="en-IN" sz="1600" dirty="0" err="1">
                <a:latin typeface="Times New Roman" panose="02020603050405020304" pitchFamily="18" charset="0"/>
                <a:cs typeface="Times New Roman" panose="02020603050405020304" pitchFamily="18" charset="0"/>
              </a:rPr>
              <a:t>ShadowForge</a:t>
            </a:r>
            <a:r>
              <a:rPr lang="en-IN" sz="1600" dirty="0">
                <a:latin typeface="Times New Roman" panose="02020603050405020304" pitchFamily="18" charset="0"/>
                <a:cs typeface="Times New Roman" panose="02020603050405020304" pitchFamily="18" charset="0"/>
              </a:rPr>
              <a:t> is an AI-powered API cloning and mock server platform that simplifies API development and testing by automatically </a:t>
            </a:r>
            <a:r>
              <a:rPr lang="en-IN" sz="1600" dirty="0" err="1">
                <a:latin typeface="Times New Roman" panose="02020603050405020304" pitchFamily="18" charset="0"/>
                <a:cs typeface="Times New Roman" panose="02020603050405020304" pitchFamily="18" charset="0"/>
              </a:rPr>
              <a:t>analyzing</a:t>
            </a:r>
            <a:r>
              <a:rPr lang="en-IN" sz="1600" dirty="0">
                <a:latin typeface="Times New Roman" panose="02020603050405020304" pitchFamily="18" charset="0"/>
                <a:cs typeface="Times New Roman" panose="02020603050405020304" pitchFamily="18" charset="0"/>
              </a:rPr>
              <a:t> REST APIs and generating realistic mock endpoints. It reduces dependency on live APIs, enables frontend and backend teams to work in parallel, and improves development speed through intelligent automation. Built using the MERN stack, the platform provides a secure, scalable, and user-friendly environment with features such as authentication, API version management, request logging, analytics, and response simulation.</a:t>
            </a:r>
          </a:p>
          <a:p>
            <a:pPr marL="0" indent="0">
              <a:lnSpc>
                <a:spcPct val="150000"/>
              </a:lnSpc>
              <a:buNone/>
            </a:pPr>
            <a:endParaRPr lang="en-IN" sz="1600" dirty="0">
              <a:latin typeface="Times New Roman" panose="02020603050405020304" pitchFamily="18" charset="0"/>
              <a:cs typeface="Times New Roman" panose="02020603050405020304" pitchFamily="18" charset="0"/>
            </a:endParaRPr>
          </a:p>
          <a:p>
            <a:pPr marL="0" indent="0">
              <a:lnSpc>
                <a:spcPct val="150000"/>
              </a:lnSpc>
              <a:buNone/>
            </a:pPr>
            <a:r>
              <a:rPr lang="en-IN" sz="1600" dirty="0">
                <a:latin typeface="Times New Roman" panose="02020603050405020304" pitchFamily="18" charset="0"/>
                <a:cs typeface="Times New Roman" panose="02020603050405020304" pitchFamily="18" charset="0"/>
              </a:rPr>
              <a:t>The project demonstrates how automation can enhance software development by improving collaboration, reducing testing time, and increasing overall productivity. With its flexible architecture and efficient database design, </a:t>
            </a:r>
            <a:r>
              <a:rPr lang="en-IN" sz="1600" dirty="0" err="1">
                <a:latin typeface="Times New Roman" panose="02020603050405020304" pitchFamily="18" charset="0"/>
                <a:cs typeface="Times New Roman" panose="02020603050405020304" pitchFamily="18" charset="0"/>
              </a:rPr>
              <a:t>ShadowForge</a:t>
            </a:r>
            <a:r>
              <a:rPr lang="en-IN" sz="1600" dirty="0">
                <a:latin typeface="Times New Roman" panose="02020603050405020304" pitchFamily="18" charset="0"/>
                <a:cs typeface="Times New Roman" panose="02020603050405020304" pitchFamily="18" charset="0"/>
              </a:rPr>
              <a:t> serves as a reliable solution for modern API development and testing. In the future, the platform can be further enhanced by integrating AI-powered response generation, </a:t>
            </a:r>
            <a:r>
              <a:rPr lang="en-IN" sz="1600" dirty="0" err="1">
                <a:latin typeface="Times New Roman" panose="02020603050405020304" pitchFamily="18" charset="0"/>
                <a:cs typeface="Times New Roman" panose="02020603050405020304" pitchFamily="18" charset="0"/>
              </a:rPr>
              <a:t>GraphQL</a:t>
            </a:r>
            <a:r>
              <a:rPr lang="en-IN" sz="1600" dirty="0">
                <a:latin typeface="Times New Roman" panose="02020603050405020304" pitchFamily="18" charset="0"/>
                <a:cs typeface="Times New Roman" panose="02020603050405020304" pitchFamily="18" charset="0"/>
              </a:rPr>
              <a:t> support, cloud deployment, and real-time team collaboration, making it a more comprehensive and powerful development platform.</a:t>
            </a:r>
          </a:p>
          <a:p>
            <a:pPr>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3620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2B35-F619-A6C4-D183-0905E3C84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FDD44-8165-80F9-FC40-5F12B7DB6C7A}"/>
              </a:ext>
            </a:extLst>
          </p:cNvPr>
          <p:cNvSpPr>
            <a:spLocks noGrp="1"/>
          </p:cNvSpPr>
          <p:nvPr>
            <p:ph type="title"/>
          </p:nvPr>
        </p:nvSpPr>
        <p:spPr/>
        <p:txBody>
          <a:bodyPr/>
          <a:lstStyle/>
          <a:p>
            <a:r>
              <a:rPr lang="en-IN" sz="4400"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68B172C5-9053-2A04-F2AC-F10C8CBF3B56}"/>
              </a:ext>
            </a:extLst>
          </p:cNvPr>
          <p:cNvSpPr>
            <a:spLocks noGrp="1"/>
          </p:cNvSpPr>
          <p:nvPr>
            <p:ph idx="1"/>
          </p:nvPr>
        </p:nvSpPr>
        <p:spPr/>
        <p:txBody>
          <a:bodyPr/>
          <a:lstStyle/>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lgn="ctr">
              <a:buNone/>
            </a:pPr>
            <a:r>
              <a:rPr lang="en-IN"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959194150"/>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AE925D5-DA43-4DD1-B6B6-8B467D16728C}" vid="{3EE72552-1DD1-4F59-AD60-F0ECC5712F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667</TotalTime>
  <Words>779</Words>
  <Application>Microsoft Office PowerPoint</Application>
  <PresentationFormat>On-screen Show (4:3)</PresentationFormat>
  <Paragraphs>104</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Theme1</vt:lpstr>
      <vt:lpstr>PowerPoint Presentation</vt:lpstr>
      <vt:lpstr>Index</vt:lpstr>
      <vt:lpstr>Introduction</vt:lpstr>
      <vt:lpstr>Project Description</vt:lpstr>
      <vt:lpstr>    Key Features</vt:lpstr>
      <vt:lpstr>System Architecture and  Design</vt:lpstr>
      <vt:lpstr>System Design And Architecture</vt:lpstr>
      <vt:lpstr>System Design And Architecture</vt:lpstr>
      <vt:lpstr>    Database Design</vt:lpstr>
      <vt:lpstr>Dataflow Diagrams</vt:lpstr>
      <vt:lpstr>         Dataflow Diagrams</vt:lpstr>
      <vt:lpstr>     Dataflow Diagram</vt:lpstr>
      <vt:lpstr>Features Implemented</vt:lpstr>
      <vt:lpstr>Conclusion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Riyanshi Arora</cp:lastModifiedBy>
  <cp:revision>158</cp:revision>
  <dcterms:created xsi:type="dcterms:W3CDTF">2024-07-10T18:26:37Z</dcterms:created>
  <dcterms:modified xsi:type="dcterms:W3CDTF">2026-07-29T09:28:17Z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2023-09-09T00:00:00Z</vt:filetime>
  </property>
  <property fmtid="{D5CDD505-2E9C-101B-9397-08002B2CF9AE}" pid="3" name="Creator">
    <vt:lpwstr>Microsoft® PowerPoint® 2013</vt:lpwstr>
  </property>
  <property fmtid="{D5CDD505-2E9C-101B-9397-08002B2CF9AE}" pid="4" name="LastSaved">
    <vt:filetime>2024-07-10T00:00:00Z</vt:filetime>
  </property>
</Properties>
</file>